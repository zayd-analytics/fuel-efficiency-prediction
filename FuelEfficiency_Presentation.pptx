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R² Score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Linear Regression</c:v>
                  </c:pt>
                  <c:pt idx="1">
                    <c:v>Gradient Boosting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0.848</c:v>
                </c:pt>
                <c:pt idx="1">
                  <c:v>0.898</c:v>
                </c:pt>
                <c:pt idx="2">
                  <c:v>0.915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579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Origin</c:v>
                  </c:pt>
                  <c:pt idx="1">
                    <c:v>Acceleration</c:v>
                  </c:pt>
                  <c:pt idx="2">
                    <c:v>Model Year</c:v>
                  </c:pt>
                  <c:pt idx="3">
                    <c:v>Horsepower</c:v>
                  </c:pt>
                  <c:pt idx="4">
                    <c:v>Cylinders</c:v>
                  </c:pt>
                  <c:pt idx="5">
                    <c:v>Weight</c:v>
                  </c:pt>
                  <c:pt idx="6">
                    <c:v>Displacement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0.01</c:v>
                </c:pt>
                <c:pt idx="1">
                  <c:v>0.03</c:v>
                </c:pt>
                <c:pt idx="2">
                  <c:v>0.11</c:v>
                </c:pt>
                <c:pt idx="3">
                  <c:v>0.12</c:v>
                </c:pt>
                <c:pt idx="4">
                  <c:v>0.12</c:v>
                </c:pt>
                <c:pt idx="5">
                  <c:v>0.15</c:v>
                </c:pt>
                <c:pt idx="6">
                  <c:v>0.45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097280"/>
            <a:ext cx="256032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Fuel Efficiency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Prediction &amp; Analysis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Automotive Insights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3063240"/>
            <a:ext cx="41148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Zayd Quadri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Quadrant Labs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Deadline: April 2,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10972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2801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5146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 vehicles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1970–1982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features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/ Europe / Japan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005840"/>
            <a:ext cx="2651760" cy="10972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2801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383280" y="25146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MPG using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automotive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72200" y="10058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1005840"/>
            <a:ext cx="2651760" cy="10972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2801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Approach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09360" y="25146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Preprocessing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ML Models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Evaluation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Insights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Exploratory Data Analysis — 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Correlations with MPG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3611880" cy="384048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1554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-0.83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3611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57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0574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-0.80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2560320"/>
            <a:ext cx="3611880" cy="384048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603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5603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-0.78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063240"/>
            <a:ext cx="3611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63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Horsepower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3063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-0.77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3566160"/>
            <a:ext cx="3611880" cy="384048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66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Year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35661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+0.58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4069080"/>
            <a:ext cx="3611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690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0" y="40690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+0.56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960120"/>
            <a:ext cx="4251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960120"/>
            <a:ext cx="91440" cy="10515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216152"/>
            <a:ext cx="502920" cy="5029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394960" y="11247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cars average 31 MPG vs USA's 19 MPG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0" y="2194560"/>
            <a:ext cx="4251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72000" y="2194560"/>
            <a:ext cx="91440" cy="10515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450592"/>
            <a:ext cx="502920" cy="5029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394960" y="23591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vehicles consistently achieve lower MPG across all origins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4572000" y="3429000"/>
            <a:ext cx="4251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572000" y="3429000"/>
            <a:ext cx="91440" cy="10515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685032"/>
            <a:ext cx="502920" cy="5029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394960" y="359359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efficiency improved every year from 1970 to 1982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Performance Comparison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005840"/>
          <a:ext cx="3383280" cy="1737360"/>
        </p:xfrm>
        <a:graphic>
          <a:graphicData uri="http://schemas.openxmlformats.org/drawingml/2006/table">
            <a:tbl>
              <a:tblPr/>
              <a:tblGrid>
                <a:gridCol w="1554480"/>
                <a:gridCol w="594360"/>
                <a:gridCol w="594360"/>
                <a:gridCol w="594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Linear Regression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2.255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2.863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0.848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Gradient Boosting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1.748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2.347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0.898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✦ Random Forest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1.577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2.141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0.915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0" y="2926080"/>
            <a:ext cx="3383280" cy="1600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486400" y="2926080"/>
            <a:ext cx="3383280" cy="914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090672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7220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5669280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566928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0.915  |  MAE = 1.577 MPG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Importance — Random Forest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05840"/>
            <a:ext cx="3017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1005840"/>
            <a:ext cx="91440" cy="1554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29400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Displacement Dominates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629400" y="162763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size alone accounts for ~45% of the model's predictive weight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852160" y="2834640"/>
            <a:ext cx="3017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852160" y="2834640"/>
            <a:ext cx="91440" cy="1554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29400" y="3017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5 = 95% of Signal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629400" y="345643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Displacement, weight, cylinders, horsepower &amp; model year drive almost all predictions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852160" y="2926080"/>
            <a:ext cx="3017520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989320" y="3063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contributes only ~1% — regional differences are fully captured by physical attributes already in the model.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for automotive manufacturers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14800" cy="1463040"/>
          </a:xfrm>
          <a:prstGeom prst="rect">
            <a:avLst/>
          </a:prstGeom>
          <a:solidFill>
            <a:srgbClr val="0D1B4B"/>
          </a:solidFill>
          <a:ln w="12700">
            <a:solidFill>
              <a:srgbClr val="2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91440" cy="1463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Reduce Engine Displacement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leverage design decision — displacement accounts for 45% of fuel efficiency prediction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114800" cy="1463040"/>
          </a:xfrm>
          <a:prstGeom prst="rect">
            <a:avLst/>
          </a:prstGeom>
          <a:solidFill>
            <a:srgbClr val="0D1B4B"/>
          </a:solidFill>
          <a:ln w="12700">
            <a:solidFill>
              <a:srgbClr val="2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17320"/>
            <a:ext cx="91440" cy="1463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83480" y="2011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Lightweight Materials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377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is the second strongest driver — reducing vehicle mass delivers significant MPG gains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108960"/>
            <a:ext cx="4114800" cy="1463040"/>
          </a:xfrm>
          <a:prstGeom prst="rect">
            <a:avLst/>
          </a:prstGeom>
          <a:solidFill>
            <a:srgbClr val="0D1B4B"/>
          </a:solidFill>
          <a:ln w="12700">
            <a:solidFill>
              <a:srgbClr val="2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08960"/>
            <a:ext cx="91440" cy="1463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46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703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Benchmark Japanese Standards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069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vehicles consistently outperform at 31 MPG median vs USA's 19 MPG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4114800" cy="1463040"/>
          </a:xfrm>
          <a:prstGeom prst="rect">
            <a:avLst/>
          </a:prstGeom>
          <a:solidFill>
            <a:srgbClr val="0D1B4B"/>
          </a:solidFill>
          <a:ln w="12700">
            <a:solidFill>
              <a:srgbClr val="2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08960"/>
            <a:ext cx="91440" cy="1463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246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83480" y="3703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 the RF Model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4069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Random Forest (R²=0.915, MAE=1.577) at design stage to predict efficiency before prototyping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640080"/>
            <a:ext cx="21945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200400" y="2926080"/>
            <a:ext cx="27432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Zayd Quadri  ·  First Quadrant Labs  · 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projects@firstquadrantlabs.com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Efficiency Prediction — First Quadrant Labs</dc:title>
  <dc:subject>PptxGenJS Presentation</dc:subject>
  <dc:creator>Mohammed Zayd Quadri</dc:creator>
  <cp:lastModifiedBy>Mohammed Zayd Quadri</cp:lastModifiedBy>
  <cp:revision>1</cp:revision>
  <dcterms:created xsi:type="dcterms:W3CDTF">2026-03-15T06:56:14Z</dcterms:created>
  <dcterms:modified xsi:type="dcterms:W3CDTF">2026-03-15T06:56:14Z</dcterms:modified>
</cp:coreProperties>
</file>